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4995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image" Target="../media/image1.png"/><Relationship Id="rId21" Type="http://schemas.openxmlformats.org/officeDocument/2006/relationships/image" Target="../media/image32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23" Type="http://schemas.openxmlformats.org/officeDocument/2006/relationships/image" Target="../media/image34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3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26" Type="http://schemas.openxmlformats.org/officeDocument/2006/relationships/image" Target="../media/image57.png"/><Relationship Id="rId3" Type="http://schemas.openxmlformats.org/officeDocument/2006/relationships/image" Target="../media/image1.png"/><Relationship Id="rId21" Type="http://schemas.openxmlformats.org/officeDocument/2006/relationships/image" Target="../media/image52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5" Type="http://schemas.openxmlformats.org/officeDocument/2006/relationships/image" Target="../media/image56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29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24" Type="http://schemas.openxmlformats.org/officeDocument/2006/relationships/image" Target="../media/image55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23" Type="http://schemas.openxmlformats.org/officeDocument/2006/relationships/image" Target="../media/image54.png"/><Relationship Id="rId28" Type="http://schemas.openxmlformats.org/officeDocument/2006/relationships/image" Target="../media/image59.png"/><Relationship Id="rId10" Type="http://schemas.openxmlformats.org/officeDocument/2006/relationships/image" Target="../media/image41.png"/><Relationship Id="rId19" Type="http://schemas.openxmlformats.org/officeDocument/2006/relationships/image" Target="../media/image50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Relationship Id="rId22" Type="http://schemas.openxmlformats.org/officeDocument/2006/relationships/image" Target="../media/image53.png"/><Relationship Id="rId27" Type="http://schemas.openxmlformats.org/officeDocument/2006/relationships/image" Target="../media/image5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3" Type="http://schemas.openxmlformats.org/officeDocument/2006/relationships/image" Target="../media/image1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17" Type="http://schemas.openxmlformats.org/officeDocument/2006/relationships/image" Target="../media/image7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18" Type="http://schemas.openxmlformats.org/officeDocument/2006/relationships/image" Target="../media/image89.png"/><Relationship Id="rId26" Type="http://schemas.openxmlformats.org/officeDocument/2006/relationships/image" Target="../media/image97.png"/><Relationship Id="rId3" Type="http://schemas.openxmlformats.org/officeDocument/2006/relationships/image" Target="../media/image1.png"/><Relationship Id="rId21" Type="http://schemas.openxmlformats.org/officeDocument/2006/relationships/image" Target="../media/image92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17" Type="http://schemas.openxmlformats.org/officeDocument/2006/relationships/image" Target="../media/image88.png"/><Relationship Id="rId25" Type="http://schemas.openxmlformats.org/officeDocument/2006/relationships/image" Target="../media/image9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87.png"/><Relationship Id="rId20" Type="http://schemas.openxmlformats.org/officeDocument/2006/relationships/image" Target="../media/image9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24" Type="http://schemas.openxmlformats.org/officeDocument/2006/relationships/image" Target="../media/image95.png"/><Relationship Id="rId5" Type="http://schemas.openxmlformats.org/officeDocument/2006/relationships/image" Target="../media/image76.png"/><Relationship Id="rId15" Type="http://schemas.openxmlformats.org/officeDocument/2006/relationships/image" Target="../media/image86.png"/><Relationship Id="rId23" Type="http://schemas.openxmlformats.org/officeDocument/2006/relationships/image" Target="../media/image94.png"/><Relationship Id="rId10" Type="http://schemas.openxmlformats.org/officeDocument/2006/relationships/image" Target="../media/image81.png"/><Relationship Id="rId19" Type="http://schemas.openxmlformats.org/officeDocument/2006/relationships/image" Target="../media/image90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Relationship Id="rId14" Type="http://schemas.openxmlformats.org/officeDocument/2006/relationships/image" Target="../media/image85.png"/><Relationship Id="rId22" Type="http://schemas.openxmlformats.org/officeDocument/2006/relationships/image" Target="../media/image93.png"/><Relationship Id="rId27" Type="http://schemas.openxmlformats.org/officeDocument/2006/relationships/image" Target="../media/image9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08.png"/><Relationship Id="rId18" Type="http://schemas.openxmlformats.org/officeDocument/2006/relationships/image" Target="../media/image113.png"/><Relationship Id="rId3" Type="http://schemas.openxmlformats.org/officeDocument/2006/relationships/image" Target="../media/image1.png"/><Relationship Id="rId21" Type="http://schemas.openxmlformats.org/officeDocument/2006/relationships/image" Target="../media/image116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17" Type="http://schemas.openxmlformats.org/officeDocument/2006/relationships/image" Target="../media/image11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11.png"/><Relationship Id="rId20" Type="http://schemas.openxmlformats.org/officeDocument/2006/relationships/image" Target="../media/image1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5" Type="http://schemas.openxmlformats.org/officeDocument/2006/relationships/image" Target="../media/image100.png"/><Relationship Id="rId15" Type="http://schemas.openxmlformats.org/officeDocument/2006/relationships/image" Target="../media/image110.png"/><Relationship Id="rId23" Type="http://schemas.openxmlformats.org/officeDocument/2006/relationships/image" Target="../media/image118.png"/><Relationship Id="rId10" Type="http://schemas.openxmlformats.org/officeDocument/2006/relationships/image" Target="../media/image105.png"/><Relationship Id="rId19" Type="http://schemas.openxmlformats.org/officeDocument/2006/relationships/image" Target="../media/image114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Relationship Id="rId14" Type="http://schemas.openxmlformats.org/officeDocument/2006/relationships/image" Target="../media/image109.png"/><Relationship Id="rId22" Type="http://schemas.openxmlformats.org/officeDocument/2006/relationships/image" Target="../media/image1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128.png"/><Relationship Id="rId18" Type="http://schemas.openxmlformats.org/officeDocument/2006/relationships/image" Target="../media/image133.png"/><Relationship Id="rId26" Type="http://schemas.openxmlformats.org/officeDocument/2006/relationships/image" Target="../media/image141.png"/><Relationship Id="rId3" Type="http://schemas.openxmlformats.org/officeDocument/2006/relationships/image" Target="../media/image1.png"/><Relationship Id="rId21" Type="http://schemas.openxmlformats.org/officeDocument/2006/relationships/image" Target="../media/image136.png"/><Relationship Id="rId7" Type="http://schemas.openxmlformats.org/officeDocument/2006/relationships/image" Target="../media/image122.png"/><Relationship Id="rId12" Type="http://schemas.openxmlformats.org/officeDocument/2006/relationships/image" Target="../media/image127.png"/><Relationship Id="rId17" Type="http://schemas.openxmlformats.org/officeDocument/2006/relationships/image" Target="../media/image132.png"/><Relationship Id="rId25" Type="http://schemas.openxmlformats.org/officeDocument/2006/relationships/image" Target="../media/image14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31.png"/><Relationship Id="rId20" Type="http://schemas.openxmlformats.org/officeDocument/2006/relationships/image" Target="../media/image135.png"/><Relationship Id="rId29" Type="http://schemas.openxmlformats.org/officeDocument/2006/relationships/image" Target="../media/image1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1.png"/><Relationship Id="rId11" Type="http://schemas.openxmlformats.org/officeDocument/2006/relationships/image" Target="../media/image126.png"/><Relationship Id="rId24" Type="http://schemas.openxmlformats.org/officeDocument/2006/relationships/image" Target="../media/image139.png"/><Relationship Id="rId5" Type="http://schemas.openxmlformats.org/officeDocument/2006/relationships/image" Target="../media/image120.png"/><Relationship Id="rId15" Type="http://schemas.openxmlformats.org/officeDocument/2006/relationships/image" Target="../media/image130.png"/><Relationship Id="rId23" Type="http://schemas.openxmlformats.org/officeDocument/2006/relationships/image" Target="../media/image138.png"/><Relationship Id="rId28" Type="http://schemas.openxmlformats.org/officeDocument/2006/relationships/image" Target="../media/image143.png"/><Relationship Id="rId10" Type="http://schemas.openxmlformats.org/officeDocument/2006/relationships/image" Target="../media/image125.png"/><Relationship Id="rId19" Type="http://schemas.openxmlformats.org/officeDocument/2006/relationships/image" Target="../media/image134.png"/><Relationship Id="rId4" Type="http://schemas.openxmlformats.org/officeDocument/2006/relationships/image" Target="../media/image119.png"/><Relationship Id="rId9" Type="http://schemas.openxmlformats.org/officeDocument/2006/relationships/image" Target="../media/image124.png"/><Relationship Id="rId14" Type="http://schemas.openxmlformats.org/officeDocument/2006/relationships/image" Target="../media/image129.png"/><Relationship Id="rId22" Type="http://schemas.openxmlformats.org/officeDocument/2006/relationships/image" Target="../media/image137.png"/><Relationship Id="rId27" Type="http://schemas.openxmlformats.org/officeDocument/2006/relationships/image" Target="../media/image142.png"/><Relationship Id="rId30" Type="http://schemas.openxmlformats.org/officeDocument/2006/relationships/image" Target="../media/image14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13" Type="http://schemas.openxmlformats.org/officeDocument/2006/relationships/image" Target="../media/image155.png"/><Relationship Id="rId18" Type="http://schemas.openxmlformats.org/officeDocument/2006/relationships/image" Target="../media/image160.png"/><Relationship Id="rId3" Type="http://schemas.openxmlformats.org/officeDocument/2006/relationships/image" Target="../media/image1.png"/><Relationship Id="rId21" Type="http://schemas.openxmlformats.org/officeDocument/2006/relationships/hyperlink" Target="https://github.com/Souravv2412/EventFlowTeam_EventFlow/blob/main/screen-shots/BaseCamp%20Screenshots.pdf" TargetMode="External"/><Relationship Id="rId7" Type="http://schemas.openxmlformats.org/officeDocument/2006/relationships/image" Target="../media/image149.png"/><Relationship Id="rId12" Type="http://schemas.openxmlformats.org/officeDocument/2006/relationships/image" Target="../media/image154.png"/><Relationship Id="rId17" Type="http://schemas.openxmlformats.org/officeDocument/2006/relationships/image" Target="../media/image159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58.png"/><Relationship Id="rId20" Type="http://schemas.openxmlformats.org/officeDocument/2006/relationships/hyperlink" Target="https://github.com/Souravv2412/EventFlowTeam_EventFlow/commits/main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8.png"/><Relationship Id="rId11" Type="http://schemas.openxmlformats.org/officeDocument/2006/relationships/image" Target="../media/image153.png"/><Relationship Id="rId5" Type="http://schemas.openxmlformats.org/officeDocument/2006/relationships/image" Target="../media/image147.png"/><Relationship Id="rId15" Type="http://schemas.openxmlformats.org/officeDocument/2006/relationships/image" Target="../media/image157.png"/><Relationship Id="rId10" Type="http://schemas.openxmlformats.org/officeDocument/2006/relationships/image" Target="../media/image152.png"/><Relationship Id="rId19" Type="http://schemas.openxmlformats.org/officeDocument/2006/relationships/hyperlink" Target="https://github.com/Souravv2412/EventFlowTeam_EventFlow" TargetMode="External"/><Relationship Id="rId4" Type="http://schemas.openxmlformats.org/officeDocument/2006/relationships/image" Target="../media/image146.png"/><Relationship Id="rId9" Type="http://schemas.openxmlformats.org/officeDocument/2006/relationships/image" Target="../media/image151.png"/><Relationship Id="rId14" Type="http://schemas.openxmlformats.org/officeDocument/2006/relationships/image" Target="../media/image156.png"/><Relationship Id="rId22" Type="http://schemas.openxmlformats.org/officeDocument/2006/relationships/image" Target="../media/image16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13" Type="http://schemas.openxmlformats.org/officeDocument/2006/relationships/image" Target="../media/image171.png"/><Relationship Id="rId18" Type="http://schemas.openxmlformats.org/officeDocument/2006/relationships/image" Target="../media/image176.png"/><Relationship Id="rId3" Type="http://schemas.openxmlformats.org/officeDocument/2006/relationships/image" Target="../media/image1.png"/><Relationship Id="rId7" Type="http://schemas.openxmlformats.org/officeDocument/2006/relationships/image" Target="../media/image165.png"/><Relationship Id="rId12" Type="http://schemas.openxmlformats.org/officeDocument/2006/relationships/image" Target="../media/image170.png"/><Relationship Id="rId17" Type="http://schemas.openxmlformats.org/officeDocument/2006/relationships/image" Target="../media/image175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74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4.png"/><Relationship Id="rId11" Type="http://schemas.openxmlformats.org/officeDocument/2006/relationships/image" Target="../media/image169.png"/><Relationship Id="rId5" Type="http://schemas.openxmlformats.org/officeDocument/2006/relationships/image" Target="../media/image163.png"/><Relationship Id="rId15" Type="http://schemas.openxmlformats.org/officeDocument/2006/relationships/image" Target="../media/image173.png"/><Relationship Id="rId10" Type="http://schemas.openxmlformats.org/officeDocument/2006/relationships/image" Target="../media/image168.png"/><Relationship Id="rId19" Type="http://schemas.openxmlformats.org/officeDocument/2006/relationships/image" Target="../media/image177.png"/><Relationship Id="rId4" Type="http://schemas.openxmlformats.org/officeDocument/2006/relationships/image" Target="../media/image162.png"/><Relationship Id="rId9" Type="http://schemas.openxmlformats.org/officeDocument/2006/relationships/image" Target="../media/image167.png"/><Relationship Id="rId14" Type="http://schemas.openxmlformats.org/officeDocument/2006/relationships/image" Target="../media/image1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857500" cy="2857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0750" y="4476750"/>
            <a:ext cx="2381250" cy="2857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952500"/>
            <a:ext cx="1905000" cy="1905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8750" y="4476750"/>
            <a:ext cx="1428750" cy="14287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3361" y="3848100"/>
            <a:ext cx="609600" cy="609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18148" y="4000500"/>
            <a:ext cx="200025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31110" y="3848100"/>
            <a:ext cx="609600" cy="609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07322" y="4000500"/>
            <a:ext cx="257175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58124" y="3848100"/>
            <a:ext cx="609600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20049" y="4000500"/>
            <a:ext cx="28575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87817" y="3848100"/>
            <a:ext cx="60960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78317" y="4000500"/>
            <a:ext cx="2286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17" name="Text 1"/>
          <p:cNvSpPr/>
          <p:nvPr/>
        </p:nvSpPr>
        <p:spPr>
          <a:xfrm>
            <a:off x="609600" y="1295400"/>
            <a:ext cx="10972800" cy="1371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8A2BE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EventFlow Event Management System</a:t>
            </a:r>
            <a:endParaRPr lang="en-US" sz="5400" dirty="0"/>
          </a:p>
        </p:txBody>
      </p:sp>
      <p:sp>
        <p:nvSpPr>
          <p:cNvPr id="18" name="Text 2"/>
          <p:cNvSpPr/>
          <p:nvPr/>
        </p:nvSpPr>
        <p:spPr>
          <a:xfrm>
            <a:off x="-487680" y="2895600"/>
            <a:ext cx="131673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Streamlining Event Management Excellence</a:t>
            </a:r>
            <a:endParaRPr lang="en-US" sz="2250" dirty="0"/>
          </a:p>
        </p:txBody>
      </p:sp>
      <p:sp>
        <p:nvSpPr>
          <p:cNvPr id="19" name="Text 3"/>
          <p:cNvSpPr/>
          <p:nvPr/>
        </p:nvSpPr>
        <p:spPr>
          <a:xfrm>
            <a:off x="2940219" y="4572000"/>
            <a:ext cx="135588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Event Creation</a:t>
            </a:r>
            <a:endParaRPr lang="en-US" sz="1200" dirty="0"/>
          </a:p>
        </p:txBody>
      </p:sp>
      <p:sp>
        <p:nvSpPr>
          <p:cNvPr id="20" name="Text 4"/>
          <p:cNvSpPr/>
          <p:nvPr/>
        </p:nvSpPr>
        <p:spPr>
          <a:xfrm>
            <a:off x="4724058" y="4572000"/>
            <a:ext cx="82385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Ticketing</a:t>
            </a:r>
            <a:endParaRPr lang="en-US" sz="1200" dirty="0"/>
          </a:p>
        </p:txBody>
      </p:sp>
      <p:sp>
        <p:nvSpPr>
          <p:cNvPr id="21" name="Text 5"/>
          <p:cNvSpPr/>
          <p:nvPr/>
        </p:nvSpPr>
        <p:spPr>
          <a:xfrm>
            <a:off x="5914043" y="4572000"/>
            <a:ext cx="209776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Attendee Management</a:t>
            </a:r>
            <a:endParaRPr lang="en-US" sz="1200" dirty="0"/>
          </a:p>
        </p:txBody>
      </p:sp>
      <p:sp>
        <p:nvSpPr>
          <p:cNvPr id="22" name="Text 6"/>
          <p:cNvSpPr/>
          <p:nvPr/>
        </p:nvSpPr>
        <p:spPr>
          <a:xfrm>
            <a:off x="8377386" y="4572000"/>
            <a:ext cx="83046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23" name="Text 7"/>
          <p:cNvSpPr/>
          <p:nvPr/>
        </p:nvSpPr>
        <p:spPr>
          <a:xfrm>
            <a:off x="609600" y="5410200"/>
            <a:ext cx="10972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Developed by: EventFlow Team</a:t>
            </a:r>
            <a:endParaRPr lang="en-US" sz="1500" dirty="0"/>
          </a:p>
        </p:txBody>
      </p:sp>
      <p:sp>
        <p:nvSpPr>
          <p:cNvPr id="24" name="Text 8"/>
          <p:cNvSpPr/>
          <p:nvPr/>
        </p:nvSpPr>
        <p:spPr>
          <a:xfrm>
            <a:off x="-487680" y="5753100"/>
            <a:ext cx="13167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Bassey Esin Elliot, Wangchen Peng, and Souravdeep Durgesh Singh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43000"/>
            <a:ext cx="5600700" cy="4800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400175"/>
            <a:ext cx="285750" cy="285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113" y="1876425"/>
            <a:ext cx="485775" cy="533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413" y="1990725"/>
            <a:ext cx="257175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599" y="2590800"/>
            <a:ext cx="320099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3831" y="3273490"/>
            <a:ext cx="514350" cy="533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8131" y="3387790"/>
            <a:ext cx="28575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8707" y="4000500"/>
            <a:ext cx="398724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1143000"/>
            <a:ext cx="5600700" cy="4800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1400175"/>
            <a:ext cx="219075" cy="2857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1866900"/>
            <a:ext cx="428625" cy="533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200" y="1981200"/>
            <a:ext cx="200025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2590800"/>
            <a:ext cx="485775" cy="533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53200" y="2705100"/>
            <a:ext cx="257175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38900" y="3314700"/>
            <a:ext cx="514350" cy="533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53200" y="3429000"/>
            <a:ext cx="28575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38900" y="4038600"/>
            <a:ext cx="457200" cy="533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53200" y="4152900"/>
            <a:ext cx="228600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951857" y="6096000"/>
            <a:ext cx="6288137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141853" y="6229350"/>
            <a:ext cx="133350" cy="1524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-762000" y="381000"/>
            <a:ext cx="13716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Problem &amp; Our Solution</a:t>
            </a:r>
            <a:endParaRPr lang="en-US" sz="3600" dirty="0"/>
          </a:p>
        </p:txBody>
      </p:sp>
      <p:sp>
        <p:nvSpPr>
          <p:cNvPr id="24" name="Text 1"/>
          <p:cNvSpPr/>
          <p:nvPr/>
        </p:nvSpPr>
        <p:spPr>
          <a:xfrm>
            <a:off x="1009650" y="1371600"/>
            <a:ext cx="51435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EF444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Problem</a:t>
            </a:r>
            <a:endParaRPr lang="en-US" sz="2250" dirty="0"/>
          </a:p>
        </p:txBody>
      </p:sp>
      <p:sp>
        <p:nvSpPr>
          <p:cNvPr id="25" name="Text 2"/>
          <p:cNvSpPr/>
          <p:nvPr/>
        </p:nvSpPr>
        <p:spPr>
          <a:xfrm>
            <a:off x="1247775" y="1866900"/>
            <a:ext cx="42589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Inefficient Ticketing</a:t>
            </a:r>
            <a:endParaRPr lang="en-US" sz="1500" dirty="0"/>
          </a:p>
        </p:txBody>
      </p:sp>
      <p:sp>
        <p:nvSpPr>
          <p:cNvPr id="26" name="Text 3"/>
          <p:cNvSpPr/>
          <p:nvPr/>
        </p:nvSpPr>
        <p:spPr>
          <a:xfrm>
            <a:off x="1247775" y="2133600"/>
            <a:ext cx="42589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Manual processes leading to delays and errors</a:t>
            </a:r>
            <a:endParaRPr lang="en-US" sz="1200" dirty="0"/>
          </a:p>
        </p:txBody>
      </p:sp>
      <p:sp>
        <p:nvSpPr>
          <p:cNvPr id="27" name="Text 4"/>
          <p:cNvSpPr/>
          <p:nvPr/>
        </p:nvSpPr>
        <p:spPr>
          <a:xfrm>
            <a:off x="1216461" y="2590800"/>
            <a:ext cx="48056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Fragmented Communication</a:t>
            </a:r>
            <a:endParaRPr lang="en-US" sz="1500" dirty="0"/>
          </a:p>
        </p:txBody>
      </p:sp>
      <p:sp>
        <p:nvSpPr>
          <p:cNvPr id="28" name="Text 5"/>
          <p:cNvSpPr/>
          <p:nvPr/>
        </p:nvSpPr>
        <p:spPr>
          <a:xfrm>
            <a:off x="1196280" y="2857500"/>
            <a:ext cx="48056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Disparate channels for announcements and updates</a:t>
            </a:r>
            <a:endParaRPr lang="en-US" sz="1200" dirty="0"/>
          </a:p>
        </p:txBody>
      </p:sp>
      <p:sp>
        <p:nvSpPr>
          <p:cNvPr id="29" name="Text 6"/>
          <p:cNvSpPr/>
          <p:nvPr/>
        </p:nvSpPr>
        <p:spPr>
          <a:xfrm>
            <a:off x="1206600" y="3269796"/>
            <a:ext cx="448895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Poor Attendee Engagement</a:t>
            </a:r>
            <a:endParaRPr lang="en-US" sz="1500" dirty="0"/>
          </a:p>
        </p:txBody>
      </p:sp>
      <p:sp>
        <p:nvSpPr>
          <p:cNvPr id="30" name="Text 7"/>
          <p:cNvSpPr/>
          <p:nvPr/>
        </p:nvSpPr>
        <p:spPr>
          <a:xfrm>
            <a:off x="1196280" y="3536496"/>
            <a:ext cx="448895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Limited interaction opportunities and networking</a:t>
            </a:r>
            <a:endParaRPr lang="en-US" sz="1200" dirty="0"/>
          </a:p>
        </p:txBody>
      </p:sp>
      <p:sp>
        <p:nvSpPr>
          <p:cNvPr id="31" name="Text 8"/>
          <p:cNvSpPr/>
          <p:nvPr/>
        </p:nvSpPr>
        <p:spPr>
          <a:xfrm>
            <a:off x="1196031" y="3990975"/>
            <a:ext cx="348704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Lost Revenue</a:t>
            </a:r>
            <a:endParaRPr lang="en-US" sz="1500" dirty="0"/>
          </a:p>
        </p:txBody>
      </p:sp>
      <p:sp>
        <p:nvSpPr>
          <p:cNvPr id="32" name="Text 9"/>
          <p:cNvSpPr/>
          <p:nvPr/>
        </p:nvSpPr>
        <p:spPr>
          <a:xfrm>
            <a:off x="1182977" y="4295775"/>
            <a:ext cx="418445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Underutilized capacity and manual follow-ups</a:t>
            </a:r>
            <a:endParaRPr lang="en-US" sz="1200" dirty="0"/>
          </a:p>
        </p:txBody>
      </p:sp>
      <p:sp>
        <p:nvSpPr>
          <p:cNvPr id="33" name="Text 10"/>
          <p:cNvSpPr/>
          <p:nvPr/>
        </p:nvSpPr>
        <p:spPr>
          <a:xfrm>
            <a:off x="6772275" y="1371600"/>
            <a:ext cx="61722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2C55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Our Solution: EventFlow</a:t>
            </a:r>
            <a:endParaRPr lang="en-US" sz="2250" dirty="0"/>
          </a:p>
        </p:txBody>
      </p:sp>
      <p:sp>
        <p:nvSpPr>
          <p:cNvPr id="34" name="Text 11"/>
          <p:cNvSpPr/>
          <p:nvPr/>
        </p:nvSpPr>
        <p:spPr>
          <a:xfrm>
            <a:off x="7019925" y="1866900"/>
            <a:ext cx="538192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Streamlined Event Lifecycle</a:t>
            </a:r>
            <a:endParaRPr lang="en-US" sz="1500" dirty="0"/>
          </a:p>
        </p:txBody>
      </p:sp>
      <p:sp>
        <p:nvSpPr>
          <p:cNvPr id="35" name="Text 12"/>
          <p:cNvSpPr/>
          <p:nvPr/>
        </p:nvSpPr>
        <p:spPr>
          <a:xfrm>
            <a:off x="7019925" y="2133600"/>
            <a:ext cx="538192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Integrated platform managing end-to-end event processes</a:t>
            </a:r>
            <a:endParaRPr lang="en-US" sz="1200" dirty="0"/>
          </a:p>
        </p:txBody>
      </p:sp>
      <p:sp>
        <p:nvSpPr>
          <p:cNvPr id="36" name="Text 13"/>
          <p:cNvSpPr/>
          <p:nvPr/>
        </p:nvSpPr>
        <p:spPr>
          <a:xfrm>
            <a:off x="7077075" y="2590800"/>
            <a:ext cx="444716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Seamless Ticketing</a:t>
            </a:r>
            <a:endParaRPr lang="en-US" sz="1500" dirty="0"/>
          </a:p>
        </p:txBody>
      </p:sp>
      <p:sp>
        <p:nvSpPr>
          <p:cNvPr id="37" name="Text 14"/>
          <p:cNvSpPr/>
          <p:nvPr/>
        </p:nvSpPr>
        <p:spPr>
          <a:xfrm>
            <a:off x="7077075" y="2857500"/>
            <a:ext cx="444716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Automated registration and payment processing</a:t>
            </a:r>
            <a:endParaRPr lang="en-US" sz="1200" dirty="0"/>
          </a:p>
        </p:txBody>
      </p:sp>
      <p:sp>
        <p:nvSpPr>
          <p:cNvPr id="38" name="Text 15"/>
          <p:cNvSpPr/>
          <p:nvPr/>
        </p:nvSpPr>
        <p:spPr>
          <a:xfrm>
            <a:off x="7105650" y="3314700"/>
            <a:ext cx="456932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Unified Communication</a:t>
            </a:r>
            <a:endParaRPr lang="en-US" sz="1500" dirty="0"/>
          </a:p>
        </p:txBody>
      </p:sp>
      <p:sp>
        <p:nvSpPr>
          <p:cNvPr id="39" name="Text 16"/>
          <p:cNvSpPr/>
          <p:nvPr/>
        </p:nvSpPr>
        <p:spPr>
          <a:xfrm>
            <a:off x="7105650" y="3581400"/>
            <a:ext cx="456932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Centralized platform for all event announcements</a:t>
            </a:r>
            <a:endParaRPr lang="en-US" sz="1200" dirty="0"/>
          </a:p>
        </p:txBody>
      </p:sp>
      <p:sp>
        <p:nvSpPr>
          <p:cNvPr id="40" name="Text 17"/>
          <p:cNvSpPr/>
          <p:nvPr/>
        </p:nvSpPr>
        <p:spPr>
          <a:xfrm>
            <a:off x="7048500" y="4038600"/>
            <a:ext cx="4533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Enhanced Engagement</a:t>
            </a:r>
            <a:endParaRPr lang="en-US" sz="1500" dirty="0"/>
          </a:p>
        </p:txBody>
      </p:sp>
      <p:sp>
        <p:nvSpPr>
          <p:cNvPr id="41" name="Text 18"/>
          <p:cNvSpPr/>
          <p:nvPr/>
        </p:nvSpPr>
        <p:spPr>
          <a:xfrm>
            <a:off x="7048500" y="4305300"/>
            <a:ext cx="4533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Features empowering organizers and enhancing attendee experience</a:t>
            </a:r>
            <a:endParaRPr lang="en-US" sz="1200" dirty="0"/>
          </a:p>
        </p:txBody>
      </p:sp>
      <p:sp>
        <p:nvSpPr>
          <p:cNvPr id="42" name="Text 19"/>
          <p:cNvSpPr/>
          <p:nvPr/>
        </p:nvSpPr>
        <p:spPr>
          <a:xfrm>
            <a:off x="3393400" y="6184446"/>
            <a:ext cx="7545765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B21A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EventFlow: Transforming event management through integration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990600"/>
            <a:ext cx="3682901" cy="170170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1143000"/>
            <a:ext cx="466725" cy="495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1257300"/>
            <a:ext cx="238125" cy="266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4401" y="990600"/>
            <a:ext cx="3683050" cy="170170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6801" y="1143000"/>
            <a:ext cx="400050" cy="495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1101" y="1257300"/>
            <a:ext cx="17145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7950" y="990600"/>
            <a:ext cx="3682901" cy="170170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80350" y="1143000"/>
            <a:ext cx="447675" cy="495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94650" y="1257300"/>
            <a:ext cx="219075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2882801"/>
            <a:ext cx="3682901" cy="17018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3400" y="3035201"/>
            <a:ext cx="447675" cy="495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" y="3149501"/>
            <a:ext cx="219075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54401" y="2882801"/>
            <a:ext cx="3683050" cy="17018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21101" y="3149501"/>
            <a:ext cx="17145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27950" y="2882801"/>
            <a:ext cx="3682901" cy="17018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80350" y="3035201"/>
            <a:ext cx="466725" cy="4953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94650" y="3149501"/>
            <a:ext cx="238125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1000" y="4775150"/>
            <a:ext cx="3682901" cy="17018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3400" y="4927550"/>
            <a:ext cx="419100" cy="4953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" y="5041850"/>
            <a:ext cx="190500" cy="26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254401" y="4775150"/>
            <a:ext cx="3683050" cy="17018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406801" y="4927550"/>
            <a:ext cx="419100" cy="4953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521101" y="5041850"/>
            <a:ext cx="190500" cy="2667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127950" y="4775150"/>
            <a:ext cx="3682901" cy="17018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80350" y="4927550"/>
            <a:ext cx="419100" cy="4953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94650" y="5041850"/>
            <a:ext cx="190500" cy="26670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-762000" y="381000"/>
            <a:ext cx="13716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Core Features Overview</a:t>
            </a:r>
            <a:endParaRPr lang="en-US" sz="3600" dirty="0"/>
          </a:p>
        </p:txBody>
      </p:sp>
      <p:sp>
        <p:nvSpPr>
          <p:cNvPr id="30" name="Text 1"/>
          <p:cNvSpPr/>
          <p:nvPr/>
        </p:nvSpPr>
        <p:spPr>
          <a:xfrm>
            <a:off x="1114425" y="1257300"/>
            <a:ext cx="25833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User Authentication</a:t>
            </a:r>
            <a:endParaRPr lang="en-US" sz="1500" dirty="0"/>
          </a:p>
        </p:txBody>
      </p:sp>
      <p:sp>
        <p:nvSpPr>
          <p:cNvPr id="31" name="Text 2"/>
          <p:cNvSpPr/>
          <p:nvPr/>
        </p:nvSpPr>
        <p:spPr>
          <a:xfrm>
            <a:off x="533400" y="1752600"/>
            <a:ext cx="33781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Secure login with role-based access control for organizers, attendees, and administrators</a:t>
            </a:r>
            <a:endParaRPr lang="en-US" sz="1200" dirty="0"/>
          </a:p>
        </p:txBody>
      </p:sp>
      <p:sp>
        <p:nvSpPr>
          <p:cNvPr id="32" name="Text 3"/>
          <p:cNvSpPr/>
          <p:nvPr/>
        </p:nvSpPr>
        <p:spPr>
          <a:xfrm>
            <a:off x="4921151" y="1257300"/>
            <a:ext cx="190916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Event Creation</a:t>
            </a:r>
            <a:endParaRPr lang="en-US" sz="1500" dirty="0"/>
          </a:p>
        </p:txBody>
      </p:sp>
      <p:sp>
        <p:nvSpPr>
          <p:cNvPr id="33" name="Text 4"/>
          <p:cNvSpPr/>
          <p:nvPr/>
        </p:nvSpPr>
        <p:spPr>
          <a:xfrm>
            <a:off x="4406801" y="1752600"/>
            <a:ext cx="33782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Intuitive tools for creating, editing, and publishing events with scheduling and venue details</a:t>
            </a:r>
            <a:endParaRPr lang="en-US" sz="1200" dirty="0"/>
          </a:p>
        </p:txBody>
      </p:sp>
      <p:sp>
        <p:nvSpPr>
          <p:cNvPr id="34" name="Text 5"/>
          <p:cNvSpPr/>
          <p:nvPr/>
        </p:nvSpPr>
        <p:spPr>
          <a:xfrm>
            <a:off x="8842325" y="1257300"/>
            <a:ext cx="313610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Ticketing &amp; Registration</a:t>
            </a:r>
            <a:endParaRPr lang="en-US" sz="1500" dirty="0"/>
          </a:p>
        </p:txBody>
      </p:sp>
      <p:sp>
        <p:nvSpPr>
          <p:cNvPr id="35" name="Text 6"/>
          <p:cNvSpPr/>
          <p:nvPr/>
        </p:nvSpPr>
        <p:spPr>
          <a:xfrm>
            <a:off x="8280350" y="1752600"/>
            <a:ext cx="33781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Flexible ticketing options with customizable registration forms and attendee data management</a:t>
            </a:r>
            <a:endParaRPr lang="en-US" sz="1200" dirty="0"/>
          </a:p>
        </p:txBody>
      </p:sp>
      <p:sp>
        <p:nvSpPr>
          <p:cNvPr id="36" name="Text 7"/>
          <p:cNvSpPr/>
          <p:nvPr/>
        </p:nvSpPr>
        <p:spPr>
          <a:xfrm>
            <a:off x="1095375" y="3149501"/>
            <a:ext cx="265283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Payment Integration</a:t>
            </a:r>
            <a:endParaRPr lang="en-US" sz="1500" dirty="0"/>
          </a:p>
        </p:txBody>
      </p:sp>
      <p:sp>
        <p:nvSpPr>
          <p:cNvPr id="37" name="Text 8"/>
          <p:cNvSpPr/>
          <p:nvPr/>
        </p:nvSpPr>
        <p:spPr>
          <a:xfrm>
            <a:off x="533400" y="3644801"/>
            <a:ext cx="33781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Secure integration with major payment gateways for smooth transaction processing</a:t>
            </a:r>
            <a:endParaRPr lang="en-US" sz="1200" dirty="0"/>
          </a:p>
        </p:txBody>
      </p:sp>
      <p:sp>
        <p:nvSpPr>
          <p:cNvPr id="38" name="Text 9"/>
          <p:cNvSpPr/>
          <p:nvPr/>
        </p:nvSpPr>
        <p:spPr>
          <a:xfrm>
            <a:off x="4921151" y="3149501"/>
            <a:ext cx="253460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Notification System</a:t>
            </a:r>
            <a:endParaRPr lang="en-US" sz="1500" dirty="0"/>
          </a:p>
        </p:txBody>
      </p:sp>
      <p:sp>
        <p:nvSpPr>
          <p:cNvPr id="39" name="Text 10"/>
          <p:cNvSpPr/>
          <p:nvPr/>
        </p:nvSpPr>
        <p:spPr>
          <a:xfrm>
            <a:off x="4406801" y="3644801"/>
            <a:ext cx="33782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Automated email and in-app notifications for registration confirmations and event updates</a:t>
            </a:r>
            <a:endParaRPr lang="en-US" sz="1200" dirty="0"/>
          </a:p>
        </p:txBody>
      </p:sp>
      <p:sp>
        <p:nvSpPr>
          <p:cNvPr id="40" name="Text 11"/>
          <p:cNvSpPr/>
          <p:nvPr/>
        </p:nvSpPr>
        <p:spPr>
          <a:xfrm>
            <a:off x="8861375" y="3149501"/>
            <a:ext cx="275998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Attendee Networking</a:t>
            </a:r>
            <a:endParaRPr lang="en-US" sz="1500" dirty="0"/>
          </a:p>
        </p:txBody>
      </p:sp>
      <p:sp>
        <p:nvSpPr>
          <p:cNvPr id="41" name="Text 12"/>
          <p:cNvSpPr/>
          <p:nvPr/>
        </p:nvSpPr>
        <p:spPr>
          <a:xfrm>
            <a:off x="8280350" y="3644801"/>
            <a:ext cx="33781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Features to facilitate interaction among attendees, such as chat functions and profile visibility</a:t>
            </a:r>
            <a:endParaRPr lang="en-US" sz="1200" dirty="0"/>
          </a:p>
        </p:txBody>
      </p:sp>
      <p:sp>
        <p:nvSpPr>
          <p:cNvPr id="42" name="Text 13"/>
          <p:cNvSpPr/>
          <p:nvPr/>
        </p:nvSpPr>
        <p:spPr>
          <a:xfrm>
            <a:off x="1066800" y="5041850"/>
            <a:ext cx="281767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Analytics &amp; Reporting</a:t>
            </a:r>
            <a:endParaRPr lang="en-US" sz="1500" dirty="0"/>
          </a:p>
        </p:txBody>
      </p:sp>
      <p:sp>
        <p:nvSpPr>
          <p:cNvPr id="43" name="Text 14"/>
          <p:cNvSpPr/>
          <p:nvPr/>
        </p:nvSpPr>
        <p:spPr>
          <a:xfrm>
            <a:off x="533400" y="5537150"/>
            <a:ext cx="33781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Comprehensive dashboards and reports on registration numbers, ticket sales, and event performance</a:t>
            </a:r>
            <a:endParaRPr lang="en-US" sz="1200" dirty="0"/>
          </a:p>
        </p:txBody>
      </p:sp>
      <p:sp>
        <p:nvSpPr>
          <p:cNvPr id="44" name="Text 15"/>
          <p:cNvSpPr/>
          <p:nvPr/>
        </p:nvSpPr>
        <p:spPr>
          <a:xfrm>
            <a:off x="4940201" y="5041850"/>
            <a:ext cx="300805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Marketing &amp; Promotion</a:t>
            </a:r>
            <a:endParaRPr lang="en-US" sz="1500" dirty="0"/>
          </a:p>
        </p:txBody>
      </p:sp>
      <p:sp>
        <p:nvSpPr>
          <p:cNvPr id="45" name="Text 16"/>
          <p:cNvSpPr/>
          <p:nvPr/>
        </p:nvSpPr>
        <p:spPr>
          <a:xfrm>
            <a:off x="4406801" y="5537150"/>
            <a:ext cx="33782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Tools for event promotion, including social media integration and customizable landing pages</a:t>
            </a:r>
            <a:endParaRPr lang="en-US" sz="1200" dirty="0"/>
          </a:p>
        </p:txBody>
      </p:sp>
      <p:sp>
        <p:nvSpPr>
          <p:cNvPr id="46" name="Text 17"/>
          <p:cNvSpPr/>
          <p:nvPr/>
        </p:nvSpPr>
        <p:spPr>
          <a:xfrm>
            <a:off x="8813750" y="5041850"/>
            <a:ext cx="270283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Post-Event Feedback</a:t>
            </a:r>
            <a:endParaRPr lang="en-US" sz="1500" dirty="0"/>
          </a:p>
        </p:txBody>
      </p:sp>
      <p:sp>
        <p:nvSpPr>
          <p:cNvPr id="47" name="Text 18"/>
          <p:cNvSpPr/>
          <p:nvPr/>
        </p:nvSpPr>
        <p:spPr>
          <a:xfrm>
            <a:off x="8280350" y="5537150"/>
            <a:ext cx="33781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Mechanisms for collecting attendee feedback to improve future events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447800"/>
            <a:ext cx="3657600" cy="4419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714500"/>
            <a:ext cx="457200" cy="533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182880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5067300"/>
            <a:ext cx="2095500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7200" y="1447800"/>
            <a:ext cx="3657600" cy="4419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5800" y="1676400"/>
            <a:ext cx="514350" cy="533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0100" y="1790700"/>
            <a:ext cx="28575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5800" y="5067300"/>
            <a:ext cx="2095500" cy="571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53400" y="1447800"/>
            <a:ext cx="3657600" cy="441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82000" y="1676400"/>
            <a:ext cx="457200" cy="533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96300" y="179070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2000" y="5067300"/>
            <a:ext cx="2095500" cy="571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31840" y="6096000"/>
            <a:ext cx="512832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760440" y="6210300"/>
            <a:ext cx="152400" cy="1524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-762000" y="381000"/>
            <a:ext cx="13716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Business Objectives</a:t>
            </a:r>
            <a:endParaRPr lang="en-US" sz="3600" dirty="0"/>
          </a:p>
        </p:txBody>
      </p:sp>
      <p:sp>
        <p:nvSpPr>
          <p:cNvPr id="18" name="Text 1"/>
          <p:cNvSpPr/>
          <p:nvPr/>
        </p:nvSpPr>
        <p:spPr>
          <a:xfrm>
            <a:off x="381000" y="914400"/>
            <a:ext cx="11430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Measurable targets for EventFlow success</a:t>
            </a:r>
            <a:endParaRPr lang="en-US" sz="1200" dirty="0"/>
          </a:p>
        </p:txBody>
      </p:sp>
      <p:sp>
        <p:nvSpPr>
          <p:cNvPr id="19" name="Text 2"/>
          <p:cNvSpPr/>
          <p:nvPr/>
        </p:nvSpPr>
        <p:spPr>
          <a:xfrm>
            <a:off x="1219200" y="1676400"/>
            <a:ext cx="25908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Registration Processing</a:t>
            </a:r>
            <a:endParaRPr lang="en-US" sz="1800" dirty="0"/>
          </a:p>
        </p:txBody>
      </p:sp>
      <p:sp>
        <p:nvSpPr>
          <p:cNvPr id="20" name="Text 3"/>
          <p:cNvSpPr/>
          <p:nvPr/>
        </p:nvSpPr>
        <p:spPr>
          <a:xfrm>
            <a:off x="1525786" y="2914650"/>
            <a:ext cx="1641634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9333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75%</a:t>
            </a:r>
            <a:endParaRPr lang="en-US" sz="4500" dirty="0"/>
          </a:p>
        </p:txBody>
      </p:sp>
      <p:sp>
        <p:nvSpPr>
          <p:cNvPr id="21" name="Text 4"/>
          <p:cNvSpPr/>
          <p:nvPr/>
        </p:nvSpPr>
        <p:spPr>
          <a:xfrm>
            <a:off x="535126" y="3562350"/>
            <a:ext cx="334934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Reduction in Processing Time</a:t>
            </a:r>
            <a:endParaRPr lang="en-US" sz="1500" dirty="0"/>
          </a:p>
        </p:txBody>
      </p:sp>
      <p:sp>
        <p:nvSpPr>
          <p:cNvPr id="22" name="Text 5"/>
          <p:cNvSpPr/>
          <p:nvPr/>
        </p:nvSpPr>
        <p:spPr>
          <a:xfrm>
            <a:off x="609600" y="3981450"/>
            <a:ext cx="3200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Automating workflow to cut down manual processing</a:t>
            </a:r>
            <a:endParaRPr lang="en-US" sz="1200" dirty="0"/>
          </a:p>
        </p:txBody>
      </p:sp>
      <p:sp>
        <p:nvSpPr>
          <p:cNvPr id="23" name="Text 6"/>
          <p:cNvSpPr/>
          <p:nvPr/>
        </p:nvSpPr>
        <p:spPr>
          <a:xfrm>
            <a:off x="5162550" y="1790700"/>
            <a:ext cx="257282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 Capacity</a:t>
            </a:r>
            <a:endParaRPr lang="en-US" sz="1800" dirty="0"/>
          </a:p>
        </p:txBody>
      </p:sp>
      <p:sp>
        <p:nvSpPr>
          <p:cNvPr id="24" name="Text 7"/>
          <p:cNvSpPr/>
          <p:nvPr/>
        </p:nvSpPr>
        <p:spPr>
          <a:xfrm>
            <a:off x="4993184" y="2876550"/>
            <a:ext cx="2646581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10,000</a:t>
            </a:r>
            <a:endParaRPr lang="en-US" sz="4500" dirty="0"/>
          </a:p>
        </p:txBody>
      </p:sp>
      <p:sp>
        <p:nvSpPr>
          <p:cNvPr id="25" name="Text 8"/>
          <p:cNvSpPr/>
          <p:nvPr/>
        </p:nvSpPr>
        <p:spPr>
          <a:xfrm>
            <a:off x="5104998" y="3524250"/>
            <a:ext cx="198185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Concurrent Users</a:t>
            </a:r>
            <a:endParaRPr lang="en-US" sz="1500" dirty="0"/>
          </a:p>
        </p:txBody>
      </p:sp>
      <p:sp>
        <p:nvSpPr>
          <p:cNvPr id="26" name="Text 9"/>
          <p:cNvSpPr/>
          <p:nvPr/>
        </p:nvSpPr>
        <p:spPr>
          <a:xfrm>
            <a:off x="4495800" y="3943350"/>
            <a:ext cx="3200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Support for large-scale events without performance issues</a:t>
            </a:r>
            <a:endParaRPr lang="en-US" sz="1200" dirty="0"/>
          </a:p>
        </p:txBody>
      </p:sp>
      <p:sp>
        <p:nvSpPr>
          <p:cNvPr id="27" name="Text 10"/>
          <p:cNvSpPr/>
          <p:nvPr/>
        </p:nvSpPr>
        <p:spPr>
          <a:xfrm>
            <a:off x="8991600" y="1790700"/>
            <a:ext cx="256317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Revenue Growth</a:t>
            </a:r>
            <a:endParaRPr lang="en-US" sz="1800" dirty="0"/>
          </a:p>
        </p:txBody>
      </p:sp>
      <p:sp>
        <p:nvSpPr>
          <p:cNvPr id="28" name="Text 11"/>
          <p:cNvSpPr/>
          <p:nvPr/>
        </p:nvSpPr>
        <p:spPr>
          <a:xfrm>
            <a:off x="9298186" y="2876550"/>
            <a:ext cx="1641634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15%</a:t>
            </a:r>
            <a:endParaRPr lang="en-US" sz="4500" dirty="0"/>
          </a:p>
        </p:txBody>
      </p:sp>
      <p:sp>
        <p:nvSpPr>
          <p:cNvPr id="29" name="Text 12"/>
          <p:cNvSpPr/>
          <p:nvPr/>
        </p:nvSpPr>
        <p:spPr>
          <a:xfrm>
            <a:off x="8241462" y="3524250"/>
            <a:ext cx="348132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Increase in Revenue Per Event</a:t>
            </a:r>
            <a:endParaRPr lang="en-US" sz="1500" dirty="0"/>
          </a:p>
        </p:txBody>
      </p:sp>
      <p:sp>
        <p:nvSpPr>
          <p:cNvPr id="30" name="Text 13"/>
          <p:cNvSpPr/>
          <p:nvPr/>
        </p:nvSpPr>
        <p:spPr>
          <a:xfrm>
            <a:off x="8382000" y="3943350"/>
            <a:ext cx="3200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Optimizing ticketing and engagement strategies</a:t>
            </a:r>
            <a:endParaRPr lang="en-US" sz="1200" dirty="0"/>
          </a:p>
        </p:txBody>
      </p:sp>
      <p:sp>
        <p:nvSpPr>
          <p:cNvPr id="31" name="Text 14"/>
          <p:cNvSpPr/>
          <p:nvPr/>
        </p:nvSpPr>
        <p:spPr>
          <a:xfrm>
            <a:off x="3989040" y="6184641"/>
            <a:ext cx="615398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These objectives drive EventFlow's strategic development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2533650"/>
            <a:ext cx="2438400" cy="1752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200" y="2724150"/>
            <a:ext cx="609600" cy="609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3125" y="2876550"/>
            <a:ext cx="28575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1700" y="1533525"/>
            <a:ext cx="2133600" cy="1752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33700" y="1724025"/>
            <a:ext cx="609600" cy="609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09913" y="1876425"/>
            <a:ext cx="257175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86700" y="1400175"/>
            <a:ext cx="2133600" cy="2019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48700" y="1590675"/>
            <a:ext cx="609600" cy="609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10625" y="1743075"/>
            <a:ext cx="28575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71700" y="3533775"/>
            <a:ext cx="2133600" cy="1752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33700" y="3724275"/>
            <a:ext cx="60960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38488" y="3876675"/>
            <a:ext cx="200025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48700" y="3590925"/>
            <a:ext cx="609600" cy="609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39200" y="3743325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1000" y="1409700"/>
            <a:ext cx="11430000" cy="4000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1000" y="5562600"/>
            <a:ext cx="3708350" cy="914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3400" y="5715000"/>
            <a:ext cx="28575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9600" y="5819775"/>
            <a:ext cx="13335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241750" y="5562600"/>
            <a:ext cx="3708350" cy="914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394150" y="5715000"/>
            <a:ext cx="304800" cy="381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470350" y="5819775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102501" y="5562600"/>
            <a:ext cx="3708499" cy="914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254901" y="5715000"/>
            <a:ext cx="285750" cy="381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31101" y="5819775"/>
            <a:ext cx="133350" cy="1524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-762000" y="381000"/>
            <a:ext cx="13716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Technical Architecture</a:t>
            </a:r>
            <a:endParaRPr lang="en-US" sz="3600" dirty="0"/>
          </a:p>
        </p:txBody>
      </p:sp>
      <p:sp>
        <p:nvSpPr>
          <p:cNvPr id="28" name="Text 1"/>
          <p:cNvSpPr/>
          <p:nvPr/>
        </p:nvSpPr>
        <p:spPr>
          <a:xfrm>
            <a:off x="-762000" y="91440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Microservices architecture for scalability and resilience</a:t>
            </a:r>
            <a:endParaRPr lang="en-US" sz="1500" dirty="0"/>
          </a:p>
        </p:txBody>
      </p:sp>
      <p:sp>
        <p:nvSpPr>
          <p:cNvPr id="29" name="Text 2"/>
          <p:cNvSpPr/>
          <p:nvPr/>
        </p:nvSpPr>
        <p:spPr>
          <a:xfrm>
            <a:off x="4861560" y="3448050"/>
            <a:ext cx="24688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API Gateway</a:t>
            </a:r>
            <a:endParaRPr lang="en-US" sz="1500" dirty="0"/>
          </a:p>
        </p:txBody>
      </p:sp>
      <p:sp>
        <p:nvSpPr>
          <p:cNvPr id="30" name="Text 3"/>
          <p:cNvSpPr/>
          <p:nvPr/>
        </p:nvSpPr>
        <p:spPr>
          <a:xfrm>
            <a:off x="5067300" y="3714750"/>
            <a:ext cx="2057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Single entry point for all client requests</a:t>
            </a:r>
            <a:endParaRPr lang="en-US" sz="1050" dirty="0"/>
          </a:p>
        </p:txBody>
      </p:sp>
      <p:sp>
        <p:nvSpPr>
          <p:cNvPr id="31" name="Text 4"/>
          <p:cNvSpPr/>
          <p:nvPr/>
        </p:nvSpPr>
        <p:spPr>
          <a:xfrm>
            <a:off x="2186940" y="2447925"/>
            <a:ext cx="2103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Frontend</a:t>
            </a:r>
            <a:endParaRPr lang="en-US" sz="1500" dirty="0"/>
          </a:p>
        </p:txBody>
      </p:sp>
      <p:sp>
        <p:nvSpPr>
          <p:cNvPr id="32" name="Text 5"/>
          <p:cNvSpPr/>
          <p:nvPr/>
        </p:nvSpPr>
        <p:spPr>
          <a:xfrm>
            <a:off x="2362200" y="2714625"/>
            <a:ext cx="1752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User-facing interface for organizers and attendees</a:t>
            </a:r>
            <a:endParaRPr lang="en-US" sz="1050" dirty="0"/>
          </a:p>
        </p:txBody>
      </p:sp>
      <p:sp>
        <p:nvSpPr>
          <p:cNvPr id="33" name="Text 6"/>
          <p:cNvSpPr/>
          <p:nvPr/>
        </p:nvSpPr>
        <p:spPr>
          <a:xfrm>
            <a:off x="8077200" y="2314575"/>
            <a:ext cx="1752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Backend Services</a:t>
            </a:r>
            <a:endParaRPr lang="en-US" sz="1500" dirty="0"/>
          </a:p>
        </p:txBody>
      </p:sp>
      <p:sp>
        <p:nvSpPr>
          <p:cNvPr id="34" name="Text 7"/>
          <p:cNvSpPr/>
          <p:nvPr/>
        </p:nvSpPr>
        <p:spPr>
          <a:xfrm>
            <a:off x="8077200" y="2847975"/>
            <a:ext cx="1752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Independent services for specific functionalities</a:t>
            </a:r>
            <a:endParaRPr lang="en-US" sz="1050" dirty="0"/>
          </a:p>
        </p:txBody>
      </p:sp>
      <p:sp>
        <p:nvSpPr>
          <p:cNvPr id="35" name="Text 8"/>
          <p:cNvSpPr/>
          <p:nvPr/>
        </p:nvSpPr>
        <p:spPr>
          <a:xfrm>
            <a:off x="2186940" y="4448175"/>
            <a:ext cx="2103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Databases</a:t>
            </a:r>
            <a:endParaRPr lang="en-US" sz="1500" dirty="0"/>
          </a:p>
        </p:txBody>
      </p:sp>
      <p:sp>
        <p:nvSpPr>
          <p:cNvPr id="36" name="Text 9"/>
          <p:cNvSpPr/>
          <p:nvPr/>
        </p:nvSpPr>
        <p:spPr>
          <a:xfrm>
            <a:off x="2362200" y="4714875"/>
            <a:ext cx="1752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Dedicated databases for each microservice</a:t>
            </a:r>
            <a:endParaRPr lang="en-US" sz="1050" dirty="0"/>
          </a:p>
        </p:txBody>
      </p:sp>
      <p:sp>
        <p:nvSpPr>
          <p:cNvPr id="38" name="Text 11"/>
          <p:cNvSpPr/>
          <p:nvPr/>
        </p:nvSpPr>
        <p:spPr>
          <a:xfrm>
            <a:off x="8077200" y="4848225"/>
            <a:ext cx="1752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Dynamic service registration and discovery</a:t>
            </a:r>
            <a:endParaRPr lang="en-US" sz="1050" dirty="0"/>
          </a:p>
        </p:txBody>
      </p:sp>
      <p:sp>
        <p:nvSpPr>
          <p:cNvPr id="39" name="Text 12"/>
          <p:cNvSpPr/>
          <p:nvPr/>
        </p:nvSpPr>
        <p:spPr>
          <a:xfrm>
            <a:off x="933450" y="5715000"/>
            <a:ext cx="3003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40" name="Text 13"/>
          <p:cNvSpPr/>
          <p:nvPr/>
        </p:nvSpPr>
        <p:spPr>
          <a:xfrm>
            <a:off x="933450" y="5943600"/>
            <a:ext cx="3003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Independent scaling of services based on demand</a:t>
            </a:r>
            <a:endParaRPr lang="en-US" sz="1050" dirty="0"/>
          </a:p>
        </p:txBody>
      </p:sp>
      <p:sp>
        <p:nvSpPr>
          <p:cNvPr id="41" name="Text 14"/>
          <p:cNvSpPr/>
          <p:nvPr/>
        </p:nvSpPr>
        <p:spPr>
          <a:xfrm>
            <a:off x="4813250" y="5715000"/>
            <a:ext cx="2984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Fault Tolerance</a:t>
            </a:r>
            <a:endParaRPr lang="en-US" sz="1200" dirty="0"/>
          </a:p>
        </p:txBody>
      </p:sp>
      <p:sp>
        <p:nvSpPr>
          <p:cNvPr id="42" name="Text 15"/>
          <p:cNvSpPr/>
          <p:nvPr/>
        </p:nvSpPr>
        <p:spPr>
          <a:xfrm>
            <a:off x="4813250" y="5943600"/>
            <a:ext cx="29844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Isolated service failures don't impact the entire system</a:t>
            </a:r>
            <a:endParaRPr lang="en-US" sz="1050" dirty="0"/>
          </a:p>
        </p:txBody>
      </p:sp>
      <p:sp>
        <p:nvSpPr>
          <p:cNvPr id="43" name="Text 16"/>
          <p:cNvSpPr/>
          <p:nvPr/>
        </p:nvSpPr>
        <p:spPr>
          <a:xfrm>
            <a:off x="8654951" y="5715000"/>
            <a:ext cx="36043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Technology Flexibility</a:t>
            </a:r>
            <a:endParaRPr lang="en-US" sz="1200" dirty="0"/>
          </a:p>
        </p:txBody>
      </p:sp>
      <p:sp>
        <p:nvSpPr>
          <p:cNvPr id="44" name="Text 17"/>
          <p:cNvSpPr/>
          <p:nvPr/>
        </p:nvSpPr>
        <p:spPr>
          <a:xfrm>
            <a:off x="8654951" y="5943600"/>
            <a:ext cx="300364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Different technologies for different service needs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447800"/>
            <a:ext cx="5562600" cy="609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1638300"/>
            <a:ext cx="28575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2209800"/>
            <a:ext cx="5562600" cy="838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2362200"/>
            <a:ext cx="457200" cy="533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247650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3200400"/>
            <a:ext cx="5562600" cy="838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3352800"/>
            <a:ext cx="485775" cy="533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3467100"/>
            <a:ext cx="257175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4191000"/>
            <a:ext cx="5562600" cy="838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3400" y="4343400"/>
            <a:ext cx="457200" cy="533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" y="445770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1447800"/>
            <a:ext cx="5562600" cy="609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1638300"/>
            <a:ext cx="228600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2209800"/>
            <a:ext cx="5562600" cy="838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2362200"/>
            <a:ext cx="400050" cy="533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15100" y="2476500"/>
            <a:ext cx="17145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3200400"/>
            <a:ext cx="5562600" cy="838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0" y="3352800"/>
            <a:ext cx="457200" cy="533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15100" y="3467100"/>
            <a:ext cx="2286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4191000"/>
            <a:ext cx="5562600" cy="838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800" y="4343400"/>
            <a:ext cx="514350" cy="533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15100" y="4457700"/>
            <a:ext cx="285750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5181600"/>
            <a:ext cx="5562600" cy="8382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00800" y="5334000"/>
            <a:ext cx="428625" cy="533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15100" y="5448300"/>
            <a:ext cx="200025" cy="3048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381000" y="381000"/>
            <a:ext cx="11430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29" name="Text 1"/>
          <p:cNvSpPr/>
          <p:nvPr/>
        </p:nvSpPr>
        <p:spPr>
          <a:xfrm>
            <a:off x="381000" y="914400"/>
            <a:ext cx="11430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technologies powering EventFlow</a:t>
            </a:r>
            <a:endParaRPr lang="en-US" sz="1200" dirty="0"/>
          </a:p>
        </p:txBody>
      </p:sp>
      <p:sp>
        <p:nvSpPr>
          <p:cNvPr id="30" name="Text 2"/>
          <p:cNvSpPr/>
          <p:nvPr/>
        </p:nvSpPr>
        <p:spPr>
          <a:xfrm>
            <a:off x="933450" y="1600200"/>
            <a:ext cx="63093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B21A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Frontend Technologies</a:t>
            </a:r>
            <a:endParaRPr lang="en-US" sz="1800" dirty="0"/>
          </a:p>
        </p:txBody>
      </p:sp>
      <p:sp>
        <p:nvSpPr>
          <p:cNvPr id="31" name="Text 3"/>
          <p:cNvSpPr/>
          <p:nvPr/>
        </p:nvSpPr>
        <p:spPr>
          <a:xfrm>
            <a:off x="1143000" y="2381250"/>
            <a:ext cx="369793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React</a:t>
            </a:r>
            <a:endParaRPr lang="en-US" sz="1500" dirty="0"/>
          </a:p>
        </p:txBody>
      </p:sp>
      <p:sp>
        <p:nvSpPr>
          <p:cNvPr id="32" name="Text 4"/>
          <p:cNvSpPr/>
          <p:nvPr/>
        </p:nvSpPr>
        <p:spPr>
          <a:xfrm>
            <a:off x="1143000" y="2647950"/>
            <a:ext cx="443751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Declarative, component-based JavaScript library</a:t>
            </a:r>
            <a:endParaRPr lang="en-US" sz="1200" dirty="0"/>
          </a:p>
        </p:txBody>
      </p:sp>
      <p:sp>
        <p:nvSpPr>
          <p:cNvPr id="33" name="Text 5"/>
          <p:cNvSpPr/>
          <p:nvPr/>
        </p:nvSpPr>
        <p:spPr>
          <a:xfrm>
            <a:off x="1171575" y="3371850"/>
            <a:ext cx="265911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Redux</a:t>
            </a:r>
            <a:endParaRPr lang="en-US" sz="1500" dirty="0"/>
          </a:p>
        </p:txBody>
      </p:sp>
      <p:sp>
        <p:nvSpPr>
          <p:cNvPr id="34" name="Text 6"/>
          <p:cNvSpPr/>
          <p:nvPr/>
        </p:nvSpPr>
        <p:spPr>
          <a:xfrm>
            <a:off x="1171575" y="3638550"/>
            <a:ext cx="319093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State container for JavaScript apps</a:t>
            </a:r>
            <a:endParaRPr lang="en-US" sz="1200" dirty="0"/>
          </a:p>
        </p:txBody>
      </p:sp>
      <p:sp>
        <p:nvSpPr>
          <p:cNvPr id="35" name="Text 7"/>
          <p:cNvSpPr/>
          <p:nvPr/>
        </p:nvSpPr>
        <p:spPr>
          <a:xfrm>
            <a:off x="1143000" y="4362450"/>
            <a:ext cx="385241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Material-UI</a:t>
            </a:r>
            <a:endParaRPr lang="en-US" sz="1500" dirty="0"/>
          </a:p>
        </p:txBody>
      </p:sp>
      <p:sp>
        <p:nvSpPr>
          <p:cNvPr id="36" name="Text 8"/>
          <p:cNvSpPr/>
          <p:nvPr/>
        </p:nvSpPr>
        <p:spPr>
          <a:xfrm>
            <a:off x="1143000" y="4629150"/>
            <a:ext cx="46228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React UI framework implementing Material Design</a:t>
            </a:r>
            <a:endParaRPr lang="en-US" sz="1200" dirty="0"/>
          </a:p>
        </p:txBody>
      </p:sp>
      <p:sp>
        <p:nvSpPr>
          <p:cNvPr id="37" name="Text 9"/>
          <p:cNvSpPr/>
          <p:nvPr/>
        </p:nvSpPr>
        <p:spPr>
          <a:xfrm>
            <a:off x="6743700" y="1600200"/>
            <a:ext cx="63093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15E5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Backend Technologies</a:t>
            </a:r>
            <a:endParaRPr lang="en-US" sz="1800" dirty="0"/>
          </a:p>
        </p:txBody>
      </p:sp>
      <p:sp>
        <p:nvSpPr>
          <p:cNvPr id="38" name="Text 10"/>
          <p:cNvSpPr/>
          <p:nvPr/>
        </p:nvSpPr>
        <p:spPr>
          <a:xfrm>
            <a:off x="6953250" y="2381250"/>
            <a:ext cx="350222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Java</a:t>
            </a:r>
            <a:endParaRPr lang="en-US" sz="1500" dirty="0"/>
          </a:p>
        </p:txBody>
      </p:sp>
      <p:sp>
        <p:nvSpPr>
          <p:cNvPr id="39" name="Text 11"/>
          <p:cNvSpPr/>
          <p:nvPr/>
        </p:nvSpPr>
        <p:spPr>
          <a:xfrm>
            <a:off x="6953250" y="2647950"/>
            <a:ext cx="420266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Platform-independent programming language</a:t>
            </a:r>
            <a:endParaRPr lang="en-US" sz="1200" dirty="0"/>
          </a:p>
        </p:txBody>
      </p:sp>
      <p:sp>
        <p:nvSpPr>
          <p:cNvPr id="40" name="Text 12"/>
          <p:cNvSpPr/>
          <p:nvPr/>
        </p:nvSpPr>
        <p:spPr>
          <a:xfrm>
            <a:off x="7010400" y="3371850"/>
            <a:ext cx="341173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Spring Boot</a:t>
            </a:r>
            <a:endParaRPr lang="en-US" sz="1500" dirty="0"/>
          </a:p>
        </p:txBody>
      </p:sp>
      <p:sp>
        <p:nvSpPr>
          <p:cNvPr id="41" name="Text 13"/>
          <p:cNvSpPr/>
          <p:nvPr/>
        </p:nvSpPr>
        <p:spPr>
          <a:xfrm>
            <a:off x="7010400" y="3638550"/>
            <a:ext cx="409408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Framework for production-ready Spring apps</a:t>
            </a:r>
            <a:endParaRPr lang="en-US" sz="1200" dirty="0"/>
          </a:p>
        </p:txBody>
      </p:sp>
      <p:sp>
        <p:nvSpPr>
          <p:cNvPr id="42" name="Text 14"/>
          <p:cNvSpPr/>
          <p:nvPr/>
        </p:nvSpPr>
        <p:spPr>
          <a:xfrm>
            <a:off x="7067550" y="4362450"/>
            <a:ext cx="372159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Spring Cloud</a:t>
            </a:r>
            <a:endParaRPr lang="en-US" sz="1500" dirty="0"/>
          </a:p>
        </p:txBody>
      </p:sp>
      <p:sp>
        <p:nvSpPr>
          <p:cNvPr id="43" name="Text 15"/>
          <p:cNvSpPr/>
          <p:nvPr/>
        </p:nvSpPr>
        <p:spPr>
          <a:xfrm>
            <a:off x="7067550" y="4629150"/>
            <a:ext cx="446591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Tools for building patterns in distributed systems</a:t>
            </a:r>
            <a:endParaRPr lang="en-US" sz="1200" dirty="0"/>
          </a:p>
        </p:txBody>
      </p:sp>
      <p:sp>
        <p:nvSpPr>
          <p:cNvPr id="44" name="Text 16"/>
          <p:cNvSpPr/>
          <p:nvPr/>
        </p:nvSpPr>
        <p:spPr>
          <a:xfrm>
            <a:off x="6981825" y="5353050"/>
            <a:ext cx="376014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MySQL &amp; MongoDB</a:t>
            </a:r>
            <a:endParaRPr lang="en-US" sz="1500" dirty="0"/>
          </a:p>
        </p:txBody>
      </p:sp>
      <p:sp>
        <p:nvSpPr>
          <p:cNvPr id="45" name="Text 17"/>
          <p:cNvSpPr/>
          <p:nvPr/>
        </p:nvSpPr>
        <p:spPr>
          <a:xfrm>
            <a:off x="6981825" y="5619750"/>
            <a:ext cx="451217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Relational and NoSQL databases for data storage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0" y="1485900"/>
            <a:ext cx="5029200" cy="19526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5338" y="1372550"/>
            <a:ext cx="6061173" cy="22945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3705225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4162425"/>
            <a:ext cx="1567458" cy="1333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4314825"/>
            <a:ext cx="3429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419600"/>
            <a:ext cx="1905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24658" y="4162425"/>
            <a:ext cx="1567607" cy="1333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8958" y="4314825"/>
            <a:ext cx="3048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15158" y="44196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68464" y="4162425"/>
            <a:ext cx="1567458" cy="1333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82764" y="4314825"/>
            <a:ext cx="323850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58964" y="4419600"/>
            <a:ext cx="17145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12122" y="4162425"/>
            <a:ext cx="1567607" cy="1333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26422" y="4314825"/>
            <a:ext cx="3429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502622" y="4419600"/>
            <a:ext cx="1905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55929" y="4162425"/>
            <a:ext cx="1567458" cy="1333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70229" y="4314825"/>
            <a:ext cx="30480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46429" y="44196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599587" y="4162425"/>
            <a:ext cx="1567607" cy="13335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713887" y="4314825"/>
            <a:ext cx="304800" cy="381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790087" y="441960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243393" y="4162425"/>
            <a:ext cx="1567458" cy="13335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357693" y="4276725"/>
            <a:ext cx="304800" cy="381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433893" y="43815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81000" y="5724525"/>
            <a:ext cx="11430000" cy="6096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95300" y="5838825"/>
            <a:ext cx="266700" cy="3810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71500" y="5943600"/>
            <a:ext cx="114300" cy="1524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-762000" y="381000"/>
            <a:ext cx="13716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 Timeline &amp; Critical Path</a:t>
            </a:r>
            <a:endParaRPr lang="en-US" sz="3600" dirty="0"/>
          </a:p>
        </p:txBody>
      </p:sp>
      <p:sp>
        <p:nvSpPr>
          <p:cNvPr id="31" name="Text 1"/>
          <p:cNvSpPr/>
          <p:nvPr/>
        </p:nvSpPr>
        <p:spPr>
          <a:xfrm>
            <a:off x="381000" y="106680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EventFlow project followed a structured timeline with key milestones to ensure efficient progress and timely delivery.</a:t>
            </a:r>
            <a:endParaRPr lang="en-US" sz="1350" dirty="0"/>
          </a:p>
        </p:txBody>
      </p:sp>
      <p:sp>
        <p:nvSpPr>
          <p:cNvPr id="32" name="Text 2"/>
          <p:cNvSpPr/>
          <p:nvPr/>
        </p:nvSpPr>
        <p:spPr>
          <a:xfrm>
            <a:off x="685800" y="3667125"/>
            <a:ext cx="11430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E22C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Critical Path Analysis</a:t>
            </a:r>
            <a:endParaRPr lang="en-US" sz="1800" dirty="0"/>
          </a:p>
        </p:txBody>
      </p:sp>
      <p:sp>
        <p:nvSpPr>
          <p:cNvPr id="33" name="Text 3"/>
          <p:cNvSpPr/>
          <p:nvPr/>
        </p:nvSpPr>
        <p:spPr>
          <a:xfrm>
            <a:off x="914400" y="4276725"/>
            <a:ext cx="91975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Team Formation</a:t>
            </a:r>
            <a:endParaRPr lang="en-US" sz="1200" dirty="0"/>
          </a:p>
        </p:txBody>
      </p:sp>
      <p:sp>
        <p:nvSpPr>
          <p:cNvPr id="34" name="Text 4"/>
          <p:cNvSpPr/>
          <p:nvPr/>
        </p:nvSpPr>
        <p:spPr>
          <a:xfrm>
            <a:off x="495300" y="4810125"/>
            <a:ext cx="1338858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Establishing core team and defining project scope</a:t>
            </a:r>
            <a:endParaRPr lang="en-US" sz="1050" dirty="0"/>
          </a:p>
        </p:txBody>
      </p:sp>
      <p:sp>
        <p:nvSpPr>
          <p:cNvPr id="35" name="Text 5"/>
          <p:cNvSpPr/>
          <p:nvPr/>
        </p:nvSpPr>
        <p:spPr>
          <a:xfrm>
            <a:off x="2519958" y="4276725"/>
            <a:ext cx="958007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6" name="Text 6"/>
          <p:cNvSpPr/>
          <p:nvPr/>
        </p:nvSpPr>
        <p:spPr>
          <a:xfrm>
            <a:off x="2138958" y="4810125"/>
            <a:ext cx="1339007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Architecture and database design foundation</a:t>
            </a:r>
            <a:endParaRPr lang="en-US" sz="1050" dirty="0"/>
          </a:p>
        </p:txBody>
      </p:sp>
      <p:sp>
        <p:nvSpPr>
          <p:cNvPr id="37" name="Text 7"/>
          <p:cNvSpPr/>
          <p:nvPr/>
        </p:nvSpPr>
        <p:spPr>
          <a:xfrm>
            <a:off x="4182814" y="4276725"/>
            <a:ext cx="96678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Payment Integration</a:t>
            </a:r>
            <a:endParaRPr lang="en-US" sz="1200" dirty="0"/>
          </a:p>
        </p:txBody>
      </p:sp>
      <p:sp>
        <p:nvSpPr>
          <p:cNvPr id="38" name="Text 8"/>
          <p:cNvSpPr/>
          <p:nvPr/>
        </p:nvSpPr>
        <p:spPr>
          <a:xfrm>
            <a:off x="3782764" y="4810125"/>
            <a:ext cx="1338858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Secure payment processing capabilities</a:t>
            </a:r>
            <a:endParaRPr lang="en-US" sz="1050" dirty="0"/>
          </a:p>
        </p:txBody>
      </p:sp>
      <p:sp>
        <p:nvSpPr>
          <p:cNvPr id="39" name="Text 9"/>
          <p:cNvSpPr/>
          <p:nvPr/>
        </p:nvSpPr>
        <p:spPr>
          <a:xfrm>
            <a:off x="5845522" y="4276725"/>
            <a:ext cx="1142107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Core Development</a:t>
            </a:r>
            <a:endParaRPr lang="en-US" sz="1200" dirty="0"/>
          </a:p>
        </p:txBody>
      </p:sp>
      <p:sp>
        <p:nvSpPr>
          <p:cNvPr id="40" name="Text 10"/>
          <p:cNvSpPr/>
          <p:nvPr/>
        </p:nvSpPr>
        <p:spPr>
          <a:xfrm>
            <a:off x="5426422" y="4810125"/>
            <a:ext cx="1339007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Building central EventFlow functionalities</a:t>
            </a:r>
            <a:endParaRPr lang="en-US" sz="1050" dirty="0"/>
          </a:p>
        </p:txBody>
      </p:sp>
      <p:sp>
        <p:nvSpPr>
          <p:cNvPr id="41" name="Text 11"/>
          <p:cNvSpPr/>
          <p:nvPr/>
        </p:nvSpPr>
        <p:spPr>
          <a:xfrm>
            <a:off x="7451229" y="4276725"/>
            <a:ext cx="95785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User Testing</a:t>
            </a:r>
            <a:endParaRPr lang="en-US" sz="1200" dirty="0"/>
          </a:p>
        </p:txBody>
      </p:sp>
      <p:sp>
        <p:nvSpPr>
          <p:cNvPr id="42" name="Text 12"/>
          <p:cNvSpPr/>
          <p:nvPr/>
        </p:nvSpPr>
        <p:spPr>
          <a:xfrm>
            <a:off x="7070229" y="4810125"/>
            <a:ext cx="1338858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Validating system against user requirements</a:t>
            </a:r>
            <a:endParaRPr lang="en-US" sz="1050" dirty="0"/>
          </a:p>
        </p:txBody>
      </p:sp>
      <p:sp>
        <p:nvSpPr>
          <p:cNvPr id="43" name="Text 13"/>
          <p:cNvSpPr/>
          <p:nvPr/>
        </p:nvSpPr>
        <p:spPr>
          <a:xfrm>
            <a:off x="9094887" y="4276725"/>
            <a:ext cx="958007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Security Review</a:t>
            </a:r>
            <a:endParaRPr lang="en-US" sz="1200" dirty="0"/>
          </a:p>
        </p:txBody>
      </p:sp>
      <p:sp>
        <p:nvSpPr>
          <p:cNvPr id="44" name="Text 14"/>
          <p:cNvSpPr/>
          <p:nvPr/>
        </p:nvSpPr>
        <p:spPr>
          <a:xfrm>
            <a:off x="8713887" y="4810125"/>
            <a:ext cx="1339007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Ensuring compliance with security standards</a:t>
            </a:r>
            <a:endParaRPr lang="en-US" sz="1050" dirty="0"/>
          </a:p>
        </p:txBody>
      </p:sp>
      <p:sp>
        <p:nvSpPr>
          <p:cNvPr id="45" name="Text 15"/>
          <p:cNvSpPr/>
          <p:nvPr/>
        </p:nvSpPr>
        <p:spPr>
          <a:xfrm>
            <a:off x="10738693" y="4352925"/>
            <a:ext cx="124658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46" name="Text 16"/>
          <p:cNvSpPr/>
          <p:nvPr/>
        </p:nvSpPr>
        <p:spPr>
          <a:xfrm>
            <a:off x="10357693" y="4733925"/>
            <a:ext cx="1338858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Launching EventFlow for public use</a:t>
            </a:r>
            <a:endParaRPr lang="en-US" sz="1050" dirty="0"/>
          </a:p>
        </p:txBody>
      </p:sp>
      <p:sp>
        <p:nvSpPr>
          <p:cNvPr id="47" name="Text 17"/>
          <p:cNvSpPr/>
          <p:nvPr/>
        </p:nvSpPr>
        <p:spPr>
          <a:xfrm>
            <a:off x="876300" y="5915025"/>
            <a:ext cx="1165199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Insight: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Critical path tasks were prioritized and closely managed to prevent delays and ensure timely project completion.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04900"/>
            <a:ext cx="6675090" cy="5410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57300"/>
            <a:ext cx="504825" cy="571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371600"/>
            <a:ext cx="276225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667000"/>
            <a:ext cx="6294090" cy="685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876550"/>
            <a:ext cx="23812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467100"/>
            <a:ext cx="6294090" cy="685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676650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5372100"/>
            <a:ext cx="308997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44196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28848" y="5372100"/>
            <a:ext cx="308997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04370" y="4419600"/>
            <a:ext cx="13335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60890" y="1066800"/>
            <a:ext cx="4450110" cy="5410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51390" y="1285875"/>
            <a:ext cx="361950" cy="2857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51390" y="4610100"/>
            <a:ext cx="4069110" cy="12573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65690" y="47625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65690" y="50292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65690" y="52959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65690" y="5562600"/>
            <a:ext cx="152400" cy="1524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-762000" y="381000"/>
            <a:ext cx="13716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GitHub Repository &amp; Resources</a:t>
            </a:r>
            <a:endParaRPr lang="en-US" sz="3600" dirty="0"/>
          </a:p>
        </p:txBody>
      </p:sp>
      <p:sp>
        <p:nvSpPr>
          <p:cNvPr id="23" name="Text 1"/>
          <p:cNvSpPr/>
          <p:nvPr/>
        </p:nvSpPr>
        <p:spPr>
          <a:xfrm>
            <a:off x="1228725" y="1371600"/>
            <a:ext cx="453806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EventFlow Source Code</a:t>
            </a:r>
            <a:endParaRPr lang="en-US" sz="2250" dirty="0"/>
          </a:p>
        </p:txBody>
      </p:sp>
      <p:sp>
        <p:nvSpPr>
          <p:cNvPr id="24" name="Text 2"/>
          <p:cNvSpPr/>
          <p:nvPr/>
        </p:nvSpPr>
        <p:spPr>
          <a:xfrm>
            <a:off x="571500" y="1981200"/>
            <a:ext cx="629409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Access the complete source code for the EventFlow Event Management System.</a:t>
            </a:r>
            <a:endParaRPr lang="en-US" sz="1350" dirty="0"/>
          </a:p>
        </p:txBody>
      </p:sp>
      <p:sp>
        <p:nvSpPr>
          <p:cNvPr id="25" name="Text 3"/>
          <p:cNvSpPr/>
          <p:nvPr/>
        </p:nvSpPr>
        <p:spPr>
          <a:xfrm>
            <a:off x="1038225" y="2781300"/>
            <a:ext cx="457051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Repository</a:t>
            </a:r>
            <a:endParaRPr lang="en-US" sz="1200" dirty="0"/>
          </a:p>
        </p:txBody>
      </p:sp>
      <p:sp>
        <p:nvSpPr>
          <p:cNvPr id="26" name="Text 4"/>
          <p:cNvSpPr/>
          <p:nvPr/>
        </p:nvSpPr>
        <p:spPr>
          <a:xfrm>
            <a:off x="1038225" y="3009900"/>
            <a:ext cx="548461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IN" sz="1200" dirty="0">
                <a:hlinkClick r:id="rId19"/>
              </a:rPr>
              <a:t>https://github.com/Souravv2412/EventFlowTeam_EventFlow</a:t>
            </a:r>
            <a:endParaRPr lang="en-US" sz="1200" dirty="0"/>
          </a:p>
        </p:txBody>
      </p:sp>
      <p:sp>
        <p:nvSpPr>
          <p:cNvPr id="27" name="Text 5"/>
          <p:cNvSpPr/>
          <p:nvPr/>
        </p:nvSpPr>
        <p:spPr>
          <a:xfrm>
            <a:off x="990600" y="3581400"/>
            <a:ext cx="57606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Commit History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990600" y="3810000"/>
            <a:ext cx="691282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  <a:hlinkClick r:id="rId20"/>
              </a:rPr>
              <a:t>https://github.com/Souravv2412/EventFlowTeam_EventFlow/commits/main/</a:t>
            </a:r>
            <a:endParaRPr lang="en-US" sz="1200" dirty="0"/>
          </a:p>
        </p:txBody>
      </p:sp>
      <p:sp>
        <p:nvSpPr>
          <p:cNvPr id="29" name="Text 7"/>
          <p:cNvSpPr/>
          <p:nvPr/>
        </p:nvSpPr>
        <p:spPr>
          <a:xfrm>
            <a:off x="882372" y="5448300"/>
            <a:ext cx="175593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Clone Repository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4061344" y="5448300"/>
            <a:ext cx="126783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View Source</a:t>
            </a:r>
            <a:endParaRPr lang="en-US" sz="1200" dirty="0"/>
          </a:p>
        </p:txBody>
      </p:sp>
      <p:sp>
        <p:nvSpPr>
          <p:cNvPr id="31" name="Text 9"/>
          <p:cNvSpPr/>
          <p:nvPr/>
        </p:nvSpPr>
        <p:spPr>
          <a:xfrm>
            <a:off x="8027640" y="1257300"/>
            <a:ext cx="4882932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/>
              <a:t>Basecamp Screenshot</a:t>
            </a:r>
          </a:p>
        </p:txBody>
      </p:sp>
      <p:sp>
        <p:nvSpPr>
          <p:cNvPr id="32" name="Text 10"/>
          <p:cNvSpPr/>
          <p:nvPr/>
        </p:nvSpPr>
        <p:spPr>
          <a:xfrm>
            <a:off x="7551390" y="1714500"/>
            <a:ext cx="406911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/>
              <a:t>Here is the attached Screenshot of the </a:t>
            </a:r>
            <a:r>
              <a:rPr lang="en-US" sz="1200" dirty="0" err="1"/>
              <a:t>github</a:t>
            </a:r>
            <a:r>
              <a:rPr lang="en-US" sz="1200" dirty="0"/>
              <a:t> repository link in Doc &amp; File Section of Basecamp and also the link of all the </a:t>
            </a:r>
            <a:r>
              <a:rPr lang="en-US" sz="1200" dirty="0" err="1"/>
              <a:t>scrennshot</a:t>
            </a:r>
            <a:r>
              <a:rPr lang="en-US" sz="1200" dirty="0"/>
              <a:t> of the basecamp</a:t>
            </a:r>
          </a:p>
        </p:txBody>
      </p:sp>
      <p:sp>
        <p:nvSpPr>
          <p:cNvPr id="33" name="Text 11"/>
          <p:cNvSpPr/>
          <p:nvPr/>
        </p:nvSpPr>
        <p:spPr>
          <a:xfrm>
            <a:off x="7894290" y="4724400"/>
            <a:ext cx="38405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You'll Find</a:t>
            </a:r>
            <a:endParaRPr lang="en-US" sz="1200" dirty="0"/>
          </a:p>
        </p:txBody>
      </p:sp>
      <p:sp>
        <p:nvSpPr>
          <p:cNvPr id="34" name="Text 12"/>
          <p:cNvSpPr/>
          <p:nvPr/>
        </p:nvSpPr>
        <p:spPr>
          <a:xfrm>
            <a:off x="7894290" y="4991100"/>
            <a:ext cx="273891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Complete project source code</a:t>
            </a:r>
            <a:endParaRPr lang="en-US" sz="1200" dirty="0"/>
          </a:p>
        </p:txBody>
      </p:sp>
      <p:sp>
        <p:nvSpPr>
          <p:cNvPr id="35" name="Text 13"/>
          <p:cNvSpPr/>
          <p:nvPr/>
        </p:nvSpPr>
        <p:spPr>
          <a:xfrm>
            <a:off x="7894290" y="5257800"/>
            <a:ext cx="267444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Development documentation</a:t>
            </a:r>
            <a:endParaRPr lang="en-US" sz="1200" dirty="0"/>
          </a:p>
        </p:txBody>
      </p:sp>
      <p:sp>
        <p:nvSpPr>
          <p:cNvPr id="36" name="Text 14"/>
          <p:cNvSpPr/>
          <p:nvPr/>
        </p:nvSpPr>
        <p:spPr>
          <a:xfrm>
            <a:off x="7894290" y="5524500"/>
            <a:ext cx="30594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Commit history tracking progress</a:t>
            </a:r>
            <a:endParaRPr lang="en-US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2370CBD-1D80-BD2D-27AB-4244388B536E}"/>
              </a:ext>
            </a:extLst>
          </p:cNvPr>
          <p:cNvSpPr txBox="1"/>
          <p:nvPr/>
        </p:nvSpPr>
        <p:spPr>
          <a:xfrm>
            <a:off x="7540581" y="4276725"/>
            <a:ext cx="419411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hlinkClick r:id="rId21"/>
              </a:rPr>
              <a:t>https://github.com/Souravv2412/EventFlowTeam_EventFlow/blob/main/screen-shots/BaseCamp%20Screenshots.pdf</a:t>
            </a:r>
            <a:endParaRPr lang="en-IN" sz="1100" dirty="0"/>
          </a:p>
        </p:txBody>
      </p:sp>
      <p:pic>
        <p:nvPicPr>
          <p:cNvPr id="44" name="Picture 4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EC2628-9E88-9C6A-11B3-ECB9C19E42C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522815" y="2462118"/>
            <a:ext cx="4021376" cy="1846292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48F5F43-A866-661D-1BAD-8CAD75A1FF31}"/>
              </a:ext>
            </a:extLst>
          </p:cNvPr>
          <p:cNvSpPr txBox="1"/>
          <p:nvPr/>
        </p:nvSpPr>
        <p:spPr>
          <a:xfrm>
            <a:off x="464790" y="4511551"/>
            <a:ext cx="685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quote-cjk-patch"/>
              </a:rPr>
              <a:t>You can either download the complete project files from our public GitHub repository or view the source directly online 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43000"/>
            <a:ext cx="5562600" cy="45339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400175"/>
            <a:ext cx="285750" cy="285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905000"/>
            <a:ext cx="457200" cy="533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201930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857500"/>
            <a:ext cx="457200" cy="533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297180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810000"/>
            <a:ext cx="514350" cy="533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3924300"/>
            <a:ext cx="28575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0" y="1143000"/>
            <a:ext cx="5562600" cy="4533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0" y="1400175"/>
            <a:ext cx="285750" cy="2857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1905000"/>
            <a:ext cx="457200" cy="533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91300" y="2019300"/>
            <a:ext cx="2286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2667000"/>
            <a:ext cx="400050" cy="533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91300" y="2781300"/>
            <a:ext cx="17145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0" y="3429000"/>
            <a:ext cx="457200" cy="533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91300" y="3543300"/>
            <a:ext cx="2286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-762000" y="381000"/>
            <a:ext cx="13716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Conclusion &amp; Next Steps</a:t>
            </a:r>
            <a:endParaRPr lang="en-US" sz="3600" dirty="0"/>
          </a:p>
        </p:txBody>
      </p:sp>
      <p:sp>
        <p:nvSpPr>
          <p:cNvPr id="21" name="Text 1"/>
          <p:cNvSpPr/>
          <p:nvPr/>
        </p:nvSpPr>
        <p:spPr>
          <a:xfrm>
            <a:off x="1009650" y="1371600"/>
            <a:ext cx="5105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9333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Conclusion</a:t>
            </a:r>
            <a:endParaRPr lang="en-US" sz="2250" dirty="0"/>
          </a:p>
        </p:txBody>
      </p:sp>
      <p:sp>
        <p:nvSpPr>
          <p:cNvPr id="22" name="Text 2"/>
          <p:cNvSpPr/>
          <p:nvPr/>
        </p:nvSpPr>
        <p:spPr>
          <a:xfrm>
            <a:off x="1219200" y="1905000"/>
            <a:ext cx="4495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Integrated Solution</a:t>
            </a:r>
            <a:endParaRPr lang="en-US" sz="1500" dirty="0"/>
          </a:p>
        </p:txBody>
      </p:sp>
      <p:sp>
        <p:nvSpPr>
          <p:cNvPr id="23" name="Text 3"/>
          <p:cNvSpPr/>
          <p:nvPr/>
        </p:nvSpPr>
        <p:spPr>
          <a:xfrm>
            <a:off x="1219200" y="2171700"/>
            <a:ext cx="4495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EventFlow provides a comprehensive platform for end-to-end event management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1219200" y="2857500"/>
            <a:ext cx="4495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Streamlined Process</a:t>
            </a:r>
            <a:endParaRPr lang="en-US" sz="1500" dirty="0"/>
          </a:p>
        </p:txBody>
      </p:sp>
      <p:sp>
        <p:nvSpPr>
          <p:cNvPr id="25" name="Text 5"/>
          <p:cNvSpPr/>
          <p:nvPr/>
        </p:nvSpPr>
        <p:spPr>
          <a:xfrm>
            <a:off x="1219200" y="3124200"/>
            <a:ext cx="4495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From registration to post-event analysis, EventFlow eliminates inefficiencies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1276350" y="3810000"/>
            <a:ext cx="43739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Enhanced Experience</a:t>
            </a:r>
            <a:endParaRPr lang="en-US" sz="1500" dirty="0"/>
          </a:p>
        </p:txBody>
      </p:sp>
      <p:sp>
        <p:nvSpPr>
          <p:cNvPr id="27" name="Text 7"/>
          <p:cNvSpPr/>
          <p:nvPr/>
        </p:nvSpPr>
        <p:spPr>
          <a:xfrm>
            <a:off x="1276350" y="4076700"/>
            <a:ext cx="524869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Improves engagement for both organizers and attendees</a:t>
            </a:r>
            <a:endParaRPr lang="en-US" sz="1200" dirty="0"/>
          </a:p>
        </p:txBody>
      </p:sp>
      <p:sp>
        <p:nvSpPr>
          <p:cNvPr id="28" name="Text 8"/>
          <p:cNvSpPr/>
          <p:nvPr/>
        </p:nvSpPr>
        <p:spPr>
          <a:xfrm>
            <a:off x="6877050" y="1371600"/>
            <a:ext cx="5105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Next Steps</a:t>
            </a:r>
            <a:endParaRPr lang="en-US" sz="2250" dirty="0"/>
          </a:p>
        </p:txBody>
      </p:sp>
      <p:sp>
        <p:nvSpPr>
          <p:cNvPr id="29" name="Text 9"/>
          <p:cNvSpPr/>
          <p:nvPr/>
        </p:nvSpPr>
        <p:spPr>
          <a:xfrm>
            <a:off x="7086600" y="1905000"/>
            <a:ext cx="480113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AI-Driven Analytics</a:t>
            </a:r>
            <a:endParaRPr lang="en-US" sz="1500" dirty="0"/>
          </a:p>
        </p:txBody>
      </p:sp>
      <p:sp>
        <p:nvSpPr>
          <p:cNvPr id="30" name="Text 10"/>
          <p:cNvSpPr/>
          <p:nvPr/>
        </p:nvSpPr>
        <p:spPr>
          <a:xfrm>
            <a:off x="7086600" y="2171700"/>
            <a:ext cx="480113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Personalized attendee experiences and optimization</a:t>
            </a:r>
            <a:endParaRPr lang="en-US" sz="1200" dirty="0"/>
          </a:p>
        </p:txBody>
      </p:sp>
      <p:sp>
        <p:nvSpPr>
          <p:cNvPr id="31" name="Text 11"/>
          <p:cNvSpPr/>
          <p:nvPr/>
        </p:nvSpPr>
        <p:spPr>
          <a:xfrm>
            <a:off x="7029450" y="2667000"/>
            <a:ext cx="421302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Expanded Integrations</a:t>
            </a:r>
            <a:endParaRPr lang="en-US" sz="1500" dirty="0"/>
          </a:p>
        </p:txBody>
      </p:sp>
      <p:sp>
        <p:nvSpPr>
          <p:cNvPr id="32" name="Text 12"/>
          <p:cNvSpPr/>
          <p:nvPr/>
        </p:nvSpPr>
        <p:spPr>
          <a:xfrm>
            <a:off x="7029450" y="2933700"/>
            <a:ext cx="421302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Connecting with more third-party applications</a:t>
            </a:r>
            <a:endParaRPr lang="en-US" sz="1200" dirty="0"/>
          </a:p>
        </p:txBody>
      </p:sp>
      <p:sp>
        <p:nvSpPr>
          <p:cNvPr id="33" name="Text 13"/>
          <p:cNvSpPr/>
          <p:nvPr/>
        </p:nvSpPr>
        <p:spPr>
          <a:xfrm>
            <a:off x="7086600" y="3429000"/>
            <a:ext cx="369528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Global Scalability</a:t>
            </a:r>
            <a:endParaRPr lang="en-US" sz="1500" dirty="0"/>
          </a:p>
        </p:txBody>
      </p:sp>
      <p:sp>
        <p:nvSpPr>
          <p:cNvPr id="34" name="Text 14"/>
          <p:cNvSpPr/>
          <p:nvPr/>
        </p:nvSpPr>
        <p:spPr>
          <a:xfrm>
            <a:off x="7086600" y="3695700"/>
            <a:ext cx="369528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Optimization for international expansion</a:t>
            </a:r>
            <a:endParaRPr lang="en-US" sz="1200" dirty="0"/>
          </a:p>
        </p:txBody>
      </p:sp>
      <p:sp>
        <p:nvSpPr>
          <p:cNvPr id="35" name="Text 15"/>
          <p:cNvSpPr/>
          <p:nvPr/>
        </p:nvSpPr>
        <p:spPr>
          <a:xfrm>
            <a:off x="1810286" y="5981700"/>
            <a:ext cx="8571428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Join us in revolutionizing event management with EventFlow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736</Words>
  <Application>Microsoft Office PowerPoint</Application>
  <PresentationFormat>Widescreen</PresentationFormat>
  <Paragraphs>157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quote-cjk-patch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Sourav Singh</cp:lastModifiedBy>
  <cp:revision>2</cp:revision>
  <dcterms:created xsi:type="dcterms:W3CDTF">2025-11-19T22:42:50Z</dcterms:created>
  <dcterms:modified xsi:type="dcterms:W3CDTF">2025-11-19T22:58:02Z</dcterms:modified>
</cp:coreProperties>
</file>